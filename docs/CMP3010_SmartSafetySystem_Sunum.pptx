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Safety System. Gas, flame and heat detection that keeps working without the internet, and can be watched and controlled from an Android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Ordinary detectors are local only. Smart ones are costly and closed. My design keeps the safety logic on the device and treats the cloud as an extra, not a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groups: sensing, local reaction, and remote reporting with control. The important part is that the decision lives on the Arduino.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parts. The Arduino runs the safety logic, the NodeMCU is only a gateway. The fan runs on its own 12 V pack so it never loads the 5 V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right. Commands ride back on the response of the measurement POST, so there is no MQTT, no second endpoint and no extra polling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alarm conditions and one warning. Every threshold is adjustable from the app and stored in EEPROM.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rules are the reason the system is a safety device and not a remote control. They are all in the firmware.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problems. The last one matters most: a dead device that still looks safe is the most dangerous failure mode of a safety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specifications, each with a target and the way I measured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 LED means no alarm. The LCD alternates between the readings and the humidity warning when humidity is out of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cost me 545 lira because the lab supplied the boards and sensors. Running it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limits, stated honestly. The most important one is that the NodeMCU does not reconnect after a Wi-Fi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Firmware, part 1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Firmware, part 2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Firmware, part 3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NodeMCU Firmware, part 1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NodeMCU Firmware, part 2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NodeMCU Firmware, part 3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answer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43000"/>
            <a:ext cx="146304" cy="146304"/>
          </a:xfrm>
          <a:prstGeom prst="ellipse">
            <a:avLst/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0470" y="1143000"/>
            <a:ext cx="146304" cy="14630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0861" y="1143000"/>
            <a:ext cx="146304" cy="146304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SAFETY SYSTEM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 based gas, flame and heat detector with remote control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10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on the device. Reports to the cloud. Controlled from a phone.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Bahçeşehir University  ·  Faculty of Engineering and Natural Sciences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 ·  CMP3010 Embedded Systems Programming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Gürtünca  ·  2202775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0240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282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beeps in that room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57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detector makes a sound where it is installed. If nobody is home, nobody hears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090672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8986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ones are expensive and closed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22783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cost much more, depend on the maker's cloud, and cannot be repaired or extended.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261104"/>
            <a:ext cx="384048" cy="384048"/>
          </a:xfrm>
          <a:prstGeom prst="ellipse">
            <a:avLst/>
          </a:prstGeom>
          <a:solidFill>
            <a:srgbClr val="6E7480"/>
          </a:solidFill>
          <a:ln w="12700">
            <a:solidFill>
              <a:srgbClr val="6E74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0690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happened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39826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go back and see when the gas level rose or how long the alarm lasted.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1600200"/>
            <a:ext cx="3749040" cy="3337560"/>
          </a:xfrm>
          <a:prstGeom prst="roundRect">
            <a:avLst>
              <a:gd name="adj" fmla="val 2192"/>
            </a:avLst>
          </a:prstGeom>
          <a:solidFill>
            <a:srgbClr val="1A1D23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467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22860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detection and the fan run on the Arduino.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never waits for the network.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only adds reporting and a few commands.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internet dies, the detector still works.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IT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384048" cy="384048"/>
          </a:xfrm>
          <a:prstGeom prst="ellipse">
            <a:avLst/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and smoke with an MQ-2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with an infrared sensor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humidity with a DHT11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50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fan through a relay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and red / green LEDs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values on a 16x2 LCD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202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50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Control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26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to a Flask server every 5 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alarm log in an Android app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Fan, mute and thresholds set remotely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decision is made only on the Arduino, not in the app or on the server.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Sensors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alarm, relay, LCD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2928" y="16916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874520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21305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gateway, carries data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5776" y="16916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30368" y="1874520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30368" y="21305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LPG, methane and smoke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78624" y="16916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43216" y="1874520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43216" y="21305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flame sensor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43216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91472" y="16916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56064" y="1874520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6064" y="21305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56064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humidity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291840"/>
            <a:ext cx="182880" cy="1828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3547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+ 12 V fan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ventilation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52928" y="3108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17520" y="3291840"/>
            <a:ext cx="182880" cy="1828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17520" y="3547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+ 2 LEDs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and visual alarm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65776" y="3108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30368" y="3291840"/>
            <a:ext cx="182880" cy="1828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30368" y="3547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I2C LCD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230368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readout, two pins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78624" y="3108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43216" y="3291840"/>
            <a:ext cx="182880" cy="1828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43216" y="3547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module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7443216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log every 2 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491472" y="3108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656064" y="3291840"/>
            <a:ext cx="182880" cy="1828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56064" y="3547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x AA pack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656064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12 V for the fan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boards and sensors came from the lab stock. I bought the LCD, the fan, the battery pack, the LEDs, the buttons, the resistors and the jumper wires.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93392"/>
            <a:ext cx="164592" cy="164592"/>
          </a:xfrm>
          <a:prstGeom prst="ellipse">
            <a:avLst/>
          </a:prstGeom>
          <a:solidFill>
            <a:srgbClr val="6E7480"/>
          </a:solidFill>
          <a:ln w="12700">
            <a:solidFill>
              <a:srgbClr val="6E74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23113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8833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MQ-2, flame, DHT11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78608" y="2560320"/>
            <a:ext cx="219456" cy="201168"/>
          </a:xfrm>
          <a:prstGeom prst="rightArrow">
            <a:avLst/>
          </a:prstGeom>
          <a:solidFill>
            <a:srgbClr val="C9C4BC"/>
          </a:solidFill>
          <a:ln w="12700">
            <a:solidFill>
              <a:srgbClr val="C9C4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182880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9232" y="1993392"/>
            <a:ext cx="164592" cy="164592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9232" y="223113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68833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alarm. Drives fan, buzzer, LEDs, LCD and SD.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91456" y="2560320"/>
            <a:ext cx="219456" cy="201168"/>
          </a:xfrm>
          <a:prstGeom prst="rightArrow">
            <a:avLst/>
          </a:prstGeom>
          <a:solidFill>
            <a:srgbClr val="C9C4BC"/>
          </a:solidFill>
          <a:ln w="12700">
            <a:solidFill>
              <a:srgbClr val="C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776" y="182880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993392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223113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68833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and HTTPS. Carries data only.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04304" y="2560320"/>
            <a:ext cx="219456" cy="201168"/>
          </a:xfrm>
          <a:prstGeom prst="rightArrow">
            <a:avLst/>
          </a:prstGeom>
          <a:solidFill>
            <a:srgbClr val="C9C4BC"/>
          </a:solidFill>
          <a:ln w="12700">
            <a:solidFill>
              <a:srgbClr val="C9C4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8624" y="182880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24928" y="1993392"/>
            <a:ext cx="164592" cy="164592"/>
          </a:xfrm>
          <a:prstGeom prst="ellipse">
            <a:avLst/>
          </a:prstGeom>
          <a:solidFill>
            <a:srgbClr val="6E7480"/>
          </a:solidFill>
          <a:ln w="12700">
            <a:solidFill>
              <a:srgbClr val="6E74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24928" y="223113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on Render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24928" y="268833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 Supabase. Answers with the command.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17152" y="2560320"/>
            <a:ext cx="219456" cy="201168"/>
          </a:xfrm>
          <a:prstGeom prst="rightArrow">
            <a:avLst/>
          </a:prstGeom>
          <a:solidFill>
            <a:srgbClr val="C9C4BC"/>
          </a:solidFill>
          <a:ln w="12700">
            <a:solidFill>
              <a:srgbClr val="C9C4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91472" y="182880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37776" y="1993392"/>
            <a:ext cx="164592" cy="164592"/>
          </a:xfrm>
          <a:prstGeom prst="ellipse">
            <a:avLst/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223113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and web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268833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values, charts, alarm log, controls.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96112" y="4114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goes up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to NodeMCU every second, NodeMCU to the server every five seconds as an 88 byte JSON message.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39319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A1D23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19672" y="4114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come back down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519672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puts the command inside its answer to the same POST, so a command arrives within five seconds.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DETECTION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It Alarm?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MQ-2 reading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21024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reading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80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heating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 °C within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seconds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245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heat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45 °C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A1D23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" y="38862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heat rules?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22452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 shows itself as a fast rise, not as a high number. An absolute limit alone gives false alarms in summer and reacts too late in winter, so the device keeps a 60 second window of samples and watches both.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70332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11112" y="3886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a warning, not an alarm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422452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80 % or below 25 % the LCD alternates every two seconds between the readings and the warning. The fan, the buzzer and the relay are not touched. All thresholds can be changed from the phone.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SAFETY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Kept in the Firmware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 can only turn the fan 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585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switch the fan off from the phone while there is a gas alarm.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121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fanOn = alarm OR button OR remote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33756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clears itself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93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one press would silence the system forever.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3558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resets mute when alarm ends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572000"/>
            <a:ext cx="384048" cy="384048"/>
          </a:xfrm>
          <a:prstGeom prst="ellipse">
            <a:avLst/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61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live in EEPROM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7274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survive a power cut, and the 100k write limit is respected.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590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A3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only when a value changes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enforced on the Arduino, so a bug in the app or the server cannot break them.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WHAT WENT WRONG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389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66544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180136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arrived broken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8013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SoftwareSerial cannot send and receive at the same time, so two commands stuck together.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013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XOR checksum. A line that does not match is thrown away; the next one arrives in five seconds.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118104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07008" y="285292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Uno ran out of RAM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8529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used. The LCD stayed blank and the EEPROM values turned into garbage.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852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every string in the F() macro so it stays in flash. RAM use dropped to 64 %.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69664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07008" y="390448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reading lost everything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904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DHT11 failed it sent nan, the JSON became invalid and the whole POST was rejected.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9044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that are not numbers are sent as null, so gas and flame still reach the server.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221224"/>
            <a:ext cx="182880" cy="182880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07008" y="495604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device looked safe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49560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device stopped sending, the last reading stayed on screen and everything looked normal.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49560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reports the age of the reading. Older than 60 seconds and the app warns instead of showing NORMAL.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Verified Results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65176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 tested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and flame detection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 second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Timestamps in the serial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reaction to an alarm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Fan, buzzer and 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Lighter near the flame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reaching the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values in the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round trip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seconds or 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press to CMD line in the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survive a power 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Unplugged the board, read them at boot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commands 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different corrupted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Noticing a silent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seconds or 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age reported by the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RAM on the Arduino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25 %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 output after uploading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394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specification was checked on the built system, not on paper.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PHOTOS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Built System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200400" cy="1901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7673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case, LCD showing live values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83080"/>
            <a:ext cx="2542032" cy="19019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0" y="376732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Inside: Arduino, breadboard, relay, NodeMCU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783080"/>
            <a:ext cx="1426464" cy="19019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31152" y="376732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with the case open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1783080"/>
            <a:ext cx="2542032" cy="190195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631936" y="376732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the 12 V battery pack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40080" y="4663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is a cardboard box covered in foil, with the LCD, the two LEDs and the button on the front and the fan on the side.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PROJECT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64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64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Proposal, design, ordering the parts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78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Arduino and NodeMCU firmware, 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191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1912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page, Android app, command channel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384048" cy="384048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9044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39044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fixes and the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90288"/>
            <a:ext cx="384048" cy="384048"/>
          </a:xfrm>
          <a:prstGeom prst="ellipse">
            <a:avLst/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617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94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started on 27 July 2026. I worked alone, so the work was split into stages instead of people.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89520" y="17373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A1D23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882128" y="19659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545.59 TL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882128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actually paid — the lab supplied the boards and the sensors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35661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882128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1350 TL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882128" y="4224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the whole system from scratch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5029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882128" y="51389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A3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TL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5120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database and notifications — every service on a free plan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WHAT COMES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48256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965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reconnect and a watchdog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774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NodeMCU does not reconnect by itself after the network drops, and neither board has a watchdog timer yet.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2048256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965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on the relay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3774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sitting exactly on the threshold makes the fan switch on and off repeatedly.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739896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3657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the MQ-2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690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 threshold is a sensible default. It has not been calibrated against a known gas concentration.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  <a:effectLst>
            <a:outerShdw sx="100000" sy="100000" kx="0" ky="0" algn="bl" rotWithShape="0" blurRad="101600" dist="12700" dir="5400000">
              <a:srgbClr val="B9B4A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739896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657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sensor set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0690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DHT22 measures up to 80 °C, which would make the heat alarm useful in a real fire.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on a breadboard. It is not a certified detector and I would not tell anyone to use it instead of one.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Firmware (1/3)</a:t>
            </a:r>
            <a:endParaRPr lang="en-US" sz="3000" dirty="0"/>
          </a:p>
        </p:txBody>
      </p:sp>
      <p:pic>
        <p:nvPicPr>
          <p:cNvPr id="4" name="Image 0" descr="cmp/user6/word/media/codeA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633" y="1645920"/>
            <a:ext cx="2366253" cy="4434840"/>
          </a:xfrm>
          <a:prstGeom prst="rect">
            <a:avLst/>
          </a:prstGeom>
        </p:spPr>
      </p:pic>
      <p:pic>
        <p:nvPicPr>
          <p:cNvPr id="5" name="Image 1" descr="cmp/user6/word/media/codeA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86" y="1645920"/>
            <a:ext cx="2504689" cy="4434840"/>
          </a:xfrm>
          <a:prstGeom prst="rect">
            <a:avLst/>
          </a:prstGeom>
        </p:spPr>
      </p:pic>
      <p:pic>
        <p:nvPicPr>
          <p:cNvPr id="6" name="Image 2" descr="cmp/user6/word/media/codeA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76" y="1645920"/>
            <a:ext cx="2336514" cy="4434840"/>
          </a:xfrm>
          <a:prstGeom prst="rect">
            <a:avLst/>
          </a:prstGeom>
        </p:spPr>
      </p:pic>
      <p:pic>
        <p:nvPicPr>
          <p:cNvPr id="7" name="Image 3" descr="cmp/user6/word/media/codeA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890" y="1645920"/>
            <a:ext cx="2325172" cy="44348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sketch_aug13a.ino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Firmware (2/3)</a:t>
            </a:r>
            <a:endParaRPr lang="en-US" sz="3000" dirty="0"/>
          </a:p>
        </p:txBody>
      </p:sp>
      <p:pic>
        <p:nvPicPr>
          <p:cNvPr id="4" name="Image 0" descr="cmp/user6/word/media/codeA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969" y="1645920"/>
            <a:ext cx="2270396" cy="4434840"/>
          </a:xfrm>
          <a:prstGeom prst="rect">
            <a:avLst/>
          </a:prstGeom>
        </p:spPr>
      </p:pic>
      <p:pic>
        <p:nvPicPr>
          <p:cNvPr id="5" name="Image 1" descr="cmp/user6/word/media/codeA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965" y="1645920"/>
            <a:ext cx="2146012" cy="4434840"/>
          </a:xfrm>
          <a:prstGeom prst="rect">
            <a:avLst/>
          </a:prstGeom>
        </p:spPr>
      </p:pic>
      <p:pic>
        <p:nvPicPr>
          <p:cNvPr id="6" name="Image 2" descr="cmp/user6/word/media/codeA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576" y="1645920"/>
            <a:ext cx="1793613" cy="4434840"/>
          </a:xfrm>
          <a:prstGeom prst="rect">
            <a:avLst/>
          </a:prstGeom>
        </p:spPr>
      </p:pic>
      <p:pic>
        <p:nvPicPr>
          <p:cNvPr id="7" name="Image 3" descr="cmp/user6/word/media/codeA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789" y="1645920"/>
            <a:ext cx="2175938" cy="44348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sketch_aug13a.ino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Firmware (3/3)</a:t>
            </a:r>
            <a:endParaRPr lang="en-US" sz="3000" dirty="0"/>
          </a:p>
        </p:txBody>
      </p:sp>
      <p:pic>
        <p:nvPicPr>
          <p:cNvPr id="4" name="Image 0" descr="cmp/user6/word/media/codeA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34" y="1645920"/>
            <a:ext cx="2330746" cy="4434840"/>
          </a:xfrm>
          <a:prstGeom prst="rect">
            <a:avLst/>
          </a:prstGeom>
        </p:spPr>
      </p:pic>
      <p:pic>
        <p:nvPicPr>
          <p:cNvPr id="5" name="Image 1" descr="cmp/user6/word/media/codeA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780" y="1645920"/>
            <a:ext cx="2268201" cy="4434840"/>
          </a:xfrm>
          <a:prstGeom prst="rect">
            <a:avLst/>
          </a:prstGeom>
        </p:spPr>
      </p:pic>
      <p:pic>
        <p:nvPicPr>
          <p:cNvPr id="6" name="Image 2" descr="cmp/user6/word/media/codeA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581" y="1645920"/>
            <a:ext cx="1932942" cy="4434840"/>
          </a:xfrm>
          <a:prstGeom prst="rect">
            <a:avLst/>
          </a:prstGeom>
        </p:spPr>
      </p:pic>
      <p:pic>
        <p:nvPicPr>
          <p:cNvPr id="7" name="Image 3" descr="cmp/user6/word/media/codeA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123" y="1645920"/>
            <a:ext cx="1934586" cy="4434840"/>
          </a:xfrm>
          <a:prstGeom prst="rect">
            <a:avLst/>
          </a:prstGeom>
        </p:spPr>
      </p:pic>
      <p:pic>
        <p:nvPicPr>
          <p:cNvPr id="8" name="Image 4" descr="cmp/user6/word/media/codeA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309" y="1645920"/>
            <a:ext cx="1345953" cy="443484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sketch_aug13a.ino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NodeMCU Firmware (1/3)</a:t>
            </a:r>
            <a:endParaRPr lang="en-US" sz="3000" dirty="0"/>
          </a:p>
        </p:txBody>
      </p:sp>
      <p:pic>
        <p:nvPicPr>
          <p:cNvPr id="4" name="Image 0" descr="cmp/user6/word/media/codeN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872" y="1645920"/>
            <a:ext cx="1986551" cy="4434840"/>
          </a:xfrm>
          <a:prstGeom prst="rect">
            <a:avLst/>
          </a:prstGeom>
        </p:spPr>
      </p:pic>
      <p:pic>
        <p:nvPicPr>
          <p:cNvPr id="5" name="Image 1" descr="cmp/user6/word/media/codeN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023" y="1645920"/>
            <a:ext cx="1991372" cy="4434840"/>
          </a:xfrm>
          <a:prstGeom prst="rect">
            <a:avLst/>
          </a:prstGeom>
        </p:spPr>
      </p:pic>
      <p:pic>
        <p:nvPicPr>
          <p:cNvPr id="6" name="Image 2" descr="cmp/user6/word/media/codeN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995" y="1645920"/>
            <a:ext cx="2246124" cy="4434840"/>
          </a:xfrm>
          <a:prstGeom prst="rect">
            <a:avLst/>
          </a:prstGeom>
        </p:spPr>
      </p:pic>
      <p:pic>
        <p:nvPicPr>
          <p:cNvPr id="7" name="Image 3" descr="cmp/user6/word/media/codeN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720" y="1645920"/>
            <a:ext cx="1676103" cy="44348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sketch_aug13b.ino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NodeMCU Firmware (2/3)</a:t>
            </a:r>
            <a:endParaRPr lang="en-US" sz="3000" dirty="0"/>
          </a:p>
        </p:txBody>
      </p:sp>
      <p:pic>
        <p:nvPicPr>
          <p:cNvPr id="4" name="Image 0" descr="cmp/user6/word/media/codeN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256" y="1645920"/>
            <a:ext cx="2204852" cy="4434840"/>
          </a:xfrm>
          <a:prstGeom prst="rect">
            <a:avLst/>
          </a:prstGeom>
        </p:spPr>
      </p:pic>
      <p:pic>
        <p:nvPicPr>
          <p:cNvPr id="5" name="Image 1" descr="cmp/user6/word/media/codeN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708" y="1645920"/>
            <a:ext cx="1758084" cy="4434840"/>
          </a:xfrm>
          <a:prstGeom prst="rect">
            <a:avLst/>
          </a:prstGeom>
        </p:spPr>
      </p:pic>
      <p:pic>
        <p:nvPicPr>
          <p:cNvPr id="6" name="Image 2" descr="cmp/user6/word/media/codeN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392" y="1645920"/>
            <a:ext cx="2879579" cy="4434840"/>
          </a:xfrm>
          <a:prstGeom prst="rect">
            <a:avLst/>
          </a:prstGeom>
        </p:spPr>
      </p:pic>
      <p:pic>
        <p:nvPicPr>
          <p:cNvPr id="7" name="Image 3" descr="cmp/user6/word/media/codeN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571" y="1645920"/>
            <a:ext cx="2128868" cy="44348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sketch_aug13b.ino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NodeMCU Firmware (3/3)</a:t>
            </a:r>
            <a:endParaRPr lang="en-US" sz="3000" dirty="0"/>
          </a:p>
        </p:txBody>
      </p:sp>
      <p:pic>
        <p:nvPicPr>
          <p:cNvPr id="4" name="Image 0" descr="cmp/user6/word/media/codeN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5565" y="1645920"/>
            <a:ext cx="6660565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sketch_aug13b.ino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28016" cy="128016"/>
          </a:xfrm>
          <a:prstGeom prst="ellipse">
            <a:avLst/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2922" y="777240"/>
            <a:ext cx="128016" cy="128016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5763" y="777240"/>
            <a:ext cx="128016" cy="128016"/>
          </a:xfrm>
          <a:prstGeom prst="ellipse">
            <a:avLst/>
          </a:prstGeom>
          <a:solidFill>
            <a:srgbClr val="E03B2F"/>
          </a:solidFill>
          <a:ln w="12700">
            <a:solidFill>
              <a:srgbClr val="E03B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Rev3 Documentation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1031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docs.arduino.cc/hardware/uno-rev3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Hanwei Electronics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Semiconductor Sensor for Combustible Gas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651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pololu.com/file/download/MQ2.pdf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Aosong Electronics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Humidity and Temperature Sensor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2004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mouser.com/datasheet/2/758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Systems, 2023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ESP8266EX Datasheet, version 6.9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7490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espressif.com · esp8266ex_datasheet_en.pdf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NFPA, 2022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NFPA 72 National Fire Alarm and Signaling Code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297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rise heat detectors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46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CEN, 2018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50291-1 Detection of carbon monoxide in premises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8463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2026-09-06T23:00:19Z</dcterms:created>
  <dcterms:modified xsi:type="dcterms:W3CDTF">2026-09-06T23:00:19Z</dcterms:modified>
</cp:coreProperties>
</file>